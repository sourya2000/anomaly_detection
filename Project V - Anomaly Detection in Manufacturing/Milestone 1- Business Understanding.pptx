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9144000"/>
  <p:notesSz cx="9906000" cy="6794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845">
          <p15:clr>
            <a:srgbClr val="A4A3A4"/>
          </p15:clr>
        </p15:guide>
        <p15:guide id="2" pos="340">
          <p15:clr>
            <a:srgbClr val="A4A3A4"/>
          </p15:clr>
        </p15:guide>
      </p15:sldGuideLst>
    </p:ext>
    <p:ext uri="{2D200454-40CA-4A62-9FC3-DE9A4176ACB9}">
      <p15:notesGuideLst>
        <p15:guide id="1" orient="horz" pos="2140">
          <p15:clr>
            <a:srgbClr val="A4A3A4"/>
          </p15:clr>
        </p15:guide>
        <p15:guide id="2" pos="312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386C467-1B48-452F-848E-A0E45FD7FE81}">
  <a:tblStyle styleId="{D386C467-1B48-452F-848E-A0E45FD7FE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845" orient="horz"/>
        <p:guide pos="3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40" orient="horz"/>
        <p:guide pos="312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11108" y="0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254375" y="509588"/>
            <a:ext cx="3397250" cy="254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3227388"/>
            <a:ext cx="7924800" cy="3057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453596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11108" y="6453596"/>
            <a:ext cx="42926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:notes"/>
          <p:cNvSpPr txBox="1"/>
          <p:nvPr>
            <p:ph idx="1" type="body"/>
          </p:nvPr>
        </p:nvSpPr>
        <p:spPr>
          <a:xfrm>
            <a:off x="990600" y="3227388"/>
            <a:ext cx="7924800" cy="3057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:notes"/>
          <p:cNvSpPr/>
          <p:nvPr>
            <p:ph idx="2" type="sldImg"/>
          </p:nvPr>
        </p:nvSpPr>
        <p:spPr>
          <a:xfrm>
            <a:off x="3254375" y="509588"/>
            <a:ext cx="3397250" cy="254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d84c2a8b57_4_13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d84c2a8b57_4_13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84c2a8b57_4_13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d8252ae914_0_0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8252ae914_0_0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84c2a8b57_7_2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84c2a8b57_7_2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90600" y="3227388"/>
            <a:ext cx="7924800" cy="305752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3254375" y="509588"/>
            <a:ext cx="3397250" cy="254793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86bd9a315_1_17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86bd9a315_1_17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84c2a8b57_3_0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d84c2a8b57_3_0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84c2a8b57_3_6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84c2a8b57_3_6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d84c2a8b57_3_6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84c2a8b57_4_7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84c2a8b57_4_7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d84c2a8b57_4_7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8252ae914_0_20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8252ae914_0_20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g3d8252ae914_0_20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84c2a8b57_0_14:notes"/>
          <p:cNvSpPr/>
          <p:nvPr>
            <p:ph idx="2" type="sldImg"/>
          </p:nvPr>
        </p:nvSpPr>
        <p:spPr>
          <a:xfrm>
            <a:off x="3254375" y="509588"/>
            <a:ext cx="3397200" cy="2547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84c2a8b57_0_14:notes"/>
          <p:cNvSpPr txBox="1"/>
          <p:nvPr>
            <p:ph idx="1" type="body"/>
          </p:nvPr>
        </p:nvSpPr>
        <p:spPr>
          <a:xfrm>
            <a:off x="990600" y="3227388"/>
            <a:ext cx="7924800" cy="3057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d84c2a8b57_0_14:notes"/>
          <p:cNvSpPr txBox="1"/>
          <p:nvPr>
            <p:ph idx="12" type="sldNum"/>
          </p:nvPr>
        </p:nvSpPr>
        <p:spPr>
          <a:xfrm>
            <a:off x="5611108" y="6453596"/>
            <a:ext cx="4292700" cy="339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folie" showMasterSp="0">
  <p:cSld name="Titelfoli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/>
          <p:nvPr/>
        </p:nvSpPr>
        <p:spPr>
          <a:xfrm>
            <a:off x="0" y="4794250"/>
            <a:ext cx="9144000" cy="2063700"/>
          </a:xfrm>
          <a:prstGeom prst="rect">
            <a:avLst/>
          </a:prstGeom>
          <a:solidFill>
            <a:srgbClr val="0168B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 txBox="1"/>
          <p:nvPr>
            <p:ph type="ctrTitle"/>
          </p:nvPr>
        </p:nvSpPr>
        <p:spPr>
          <a:xfrm>
            <a:off x="515922" y="980729"/>
            <a:ext cx="8246400" cy="1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40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515922" y="2420888"/>
            <a:ext cx="82464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  <a:defRPr b="0" i="0" sz="2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58" name="Google Shape;58;p13"/>
          <p:cNvCxnSpPr/>
          <p:nvPr/>
        </p:nvCxnSpPr>
        <p:spPr>
          <a:xfrm rot="10800000">
            <a:off x="4502335" y="4794311"/>
            <a:ext cx="4800" cy="14430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/>
          <p:nvPr/>
        </p:nvSpPr>
        <p:spPr>
          <a:xfrm>
            <a:off x="4963100" y="4797150"/>
            <a:ext cx="4173600" cy="16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90000" wrap="square" tIns="18275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b="1" lang="en-US" sz="12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Anjali Kalwar</a:t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b="1" lang="en-US" sz="12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Rohith Nukala</a:t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b="1" lang="en-US" sz="12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Sourya Shome</a:t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b="1" lang="en-US" sz="12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Waseem Ashraf Khan</a:t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lang="en-US" sz="11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sz="11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4956608" y="5661248"/>
            <a:ext cx="4173600" cy="3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90000" wrap="square" tIns="18275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8385615" y="111131"/>
            <a:ext cx="720000" cy="622800"/>
          </a:xfrm>
          <a:prstGeom prst="roundRect">
            <a:avLst>
              <a:gd fmla="val 5137" name="adj"/>
            </a:avLst>
          </a:prstGeom>
          <a:solidFill>
            <a:srgbClr val="0168B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5496" y="82724"/>
            <a:ext cx="8240690" cy="8211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3" name="Google Shape;63;p13"/>
          <p:cNvCxnSpPr/>
          <p:nvPr/>
        </p:nvCxnSpPr>
        <p:spPr>
          <a:xfrm rot="10800000">
            <a:off x="4502335" y="4794311"/>
            <a:ext cx="4800" cy="14430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3"/>
          <p:cNvSpPr/>
          <p:nvPr/>
        </p:nvSpPr>
        <p:spPr>
          <a:xfrm>
            <a:off x="328834" y="5276899"/>
            <a:ext cx="41736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0" spcFirstLastPara="1" rIns="90000" wrap="square" tIns="18275">
            <a:no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Lucida Sans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Faculty of Computer Science</a:t>
            </a:r>
            <a:endParaRPr/>
          </a:p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Lucida Sans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Department of Technical and Business Information Systems</a:t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328834" y="4794249"/>
            <a:ext cx="4173600" cy="4080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0" spcFirstLastPara="1" rIns="90000" wrap="square" tIns="18275">
            <a:noAutofit/>
          </a:bodyPr>
          <a:lstStyle/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Magdeburg Research and Competence Cluster</a:t>
            </a:r>
            <a:endParaRPr b="1" i="0" sz="12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ucida Sans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Workgroup Business Informatics I</a:t>
            </a:r>
            <a:endParaRPr b="0" i="0" sz="12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326304" y="5810250"/>
            <a:ext cx="41736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b" bIns="18275" lIns="0" spcFirstLastPara="1" rIns="90000" wrap="square" tIns="18275">
            <a:noAutofit/>
          </a:bodyPr>
          <a:lstStyle/>
          <a:p>
            <a:pPr indent="-342900" lvl="0" marL="34290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Lucida Sans"/>
              <a:buNone/>
            </a:pPr>
            <a:r>
              <a:rPr b="0" i="0" lang="en-US" sz="105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rPr>
              <a:t>Otto-von-Guericke-University Magdeburg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el und Inhalt">
  <p:cSld name="Titel und Inhal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533399" y="909455"/>
            <a:ext cx="8215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2800"/>
              <a:buNone/>
              <a:defRPr b="1" i="0" sz="24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533399" y="1552724"/>
            <a:ext cx="8215200" cy="4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8300" lvl="0" marL="457200" marR="0" algn="l">
              <a:spcBef>
                <a:spcPts val="1800"/>
              </a:spcBef>
              <a:spcAft>
                <a:spcPts val="0"/>
              </a:spcAft>
              <a:buClr>
                <a:srgbClr val="0168B5"/>
              </a:buClr>
              <a:buSzPts val="2200"/>
              <a:buFont typeface="Noto Sans Symbols"/>
              <a:buChar char="▪"/>
              <a:defRPr b="0" i="0" sz="22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55600" lvl="1" marL="914400" marR="0" algn="l">
              <a:spcBef>
                <a:spcPts val="0"/>
              </a:spcBef>
              <a:spcAft>
                <a:spcPts val="0"/>
              </a:spcAft>
              <a:buClr>
                <a:srgbClr val="0168B3"/>
              </a:buClr>
              <a:buSzPts val="2000"/>
              <a:buFont typeface="Courier New"/>
              <a:buChar char="o"/>
              <a:defRPr b="0" i="0" sz="20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42900" lvl="2" marL="1371600" marR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Char char="−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30200" lvl="3" marL="18288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17500" lvl="4" marL="228600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ucida Sans"/>
              <a:buChar char="»"/>
              <a:defRPr b="0" i="0" sz="14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ctrTitle"/>
          </p:nvPr>
        </p:nvSpPr>
        <p:spPr>
          <a:xfrm>
            <a:off x="515922" y="980729"/>
            <a:ext cx="8246528" cy="1368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Anomaly Detection in Manufacturing</a:t>
            </a:r>
            <a:endParaRPr/>
          </a:p>
        </p:txBody>
      </p:sp>
      <p:sp>
        <p:nvSpPr>
          <p:cNvPr id="75" name="Google Shape;75;p15"/>
          <p:cNvSpPr txBox="1"/>
          <p:nvPr>
            <p:ph idx="1" type="subTitle"/>
          </p:nvPr>
        </p:nvSpPr>
        <p:spPr>
          <a:xfrm>
            <a:off x="515922" y="2420888"/>
            <a:ext cx="8246400" cy="7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VLBAII – System Architectures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464399" y="1036618"/>
            <a:ext cx="8215200" cy="5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Business Problem &amp; Objectives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539749" y="1731299"/>
            <a:ext cx="8215200" cy="497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ct val="81818"/>
              <a:buFont typeface="Noto Sans Symbols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Business Problem: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155701" lvl="0" marL="360001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ct val="1000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60759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2250">
                <a:latin typeface="Arial"/>
                <a:ea typeface="Arial"/>
                <a:cs typeface="Arial"/>
                <a:sym typeface="Arial"/>
              </a:rPr>
              <a:t>Rise in machine breakdowns of a  PCB</a:t>
            </a:r>
            <a:endParaRPr sz="22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lang="en-US" sz="2250">
                <a:latin typeface="Arial"/>
                <a:ea typeface="Arial"/>
                <a:cs typeface="Arial"/>
                <a:sym typeface="Arial"/>
              </a:rPr>
              <a:t>manufacturing company which causes downtime</a:t>
            </a:r>
            <a:endParaRPr sz="225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8889"/>
              <a:buFont typeface="Arial"/>
              <a:buNone/>
            </a:pPr>
            <a:r>
              <a:rPr lang="en-US" sz="2250">
                <a:latin typeface="Arial"/>
                <a:ea typeface="Arial"/>
                <a:cs typeface="Arial"/>
                <a:sym typeface="Arial"/>
              </a:rPr>
              <a:t>and leads to  high added costs.</a:t>
            </a:r>
            <a:endParaRPr sz="225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5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Arial"/>
                <a:ea typeface="Arial"/>
                <a:cs typeface="Arial"/>
                <a:sym typeface="Arial"/>
              </a:rPr>
              <a:t>Business Objectives</a:t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Arial"/>
              <a:ea typeface="Arial"/>
              <a:cs typeface="Arial"/>
              <a:sym typeface="Arial"/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Improve production efficiency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Reduce unplanned downtime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Detect breakdowns early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Reduce maintenance and repair cost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363696" lvl="0" marL="45720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Provide clear insights into key factors causing machine wear.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533400" y="474524"/>
            <a:ext cx="7770600" cy="5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 Team Composition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533399" y="1471349"/>
            <a:ext cx="8215200" cy="4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5701" lvl="0" marL="360001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b="1" sz="23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5701" lvl="0" marL="360001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b="1" sz="23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9" name="Google Shape;89;p17"/>
          <p:cNvGraphicFramePr/>
          <p:nvPr/>
        </p:nvGraphicFramePr>
        <p:xfrm>
          <a:off x="533400" y="1471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{D386C467-1B48-452F-848E-A0E45FD7FE81}</a:tableStyleId>
              </a:tblPr>
              <a:tblGrid>
                <a:gridCol w="2506025"/>
                <a:gridCol w="2506025"/>
              </a:tblGrid>
              <a:tr h="94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Strategy &amp; Project Management: Project management aspects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Sourya Shome</a:t>
                      </a:r>
                      <a:endParaRPr>
                        <a:solidFill>
                          <a:schemeClr val="accent6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Waseem Ahsraf Khan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Rohith Nukala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4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Data Management &amp; Analysis: data collection, exploration, and preparation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Sourya Shome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Waseem Ashraf Khan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Anjali Kalwar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94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Analytical Modeling: building and evaluating (ML) models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Sourya Shome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Waseem Ashraf Khan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Anjali Kalwar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340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</a:rPr>
                        <a:t>Data Infrastructure &amp; Operations: responsible for technological infrastructure for model deployment, maintenance, and scaling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Sourya Shome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Anjali Kalwar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Rohith Nukula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5925" y="1773350"/>
            <a:ext cx="2352675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/>
          <p:nvPr/>
        </p:nvSpPr>
        <p:spPr>
          <a:xfrm>
            <a:off x="6287813" y="4296575"/>
            <a:ext cx="2568900" cy="152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Project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coordination: </a:t>
            </a:r>
            <a:r>
              <a:rPr b="1" lang="en-US">
                <a:solidFill>
                  <a:schemeClr val="dk1"/>
                </a:solidFill>
              </a:rPr>
              <a:t>Notion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Documentation space: </a:t>
            </a:r>
            <a:r>
              <a:rPr b="1" lang="en-US">
                <a:solidFill>
                  <a:schemeClr val="dk1"/>
                </a:solidFill>
              </a:rPr>
              <a:t>OVGU cloud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533400" y="307500"/>
            <a:ext cx="7791300" cy="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Conceptual Diagram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533399" y="1552724"/>
            <a:ext cx="8215200" cy="4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55701" lvl="0" marL="360001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98" name="Google Shape;98;p18"/>
          <p:cNvSpPr txBox="1"/>
          <p:nvPr/>
        </p:nvSpPr>
        <p:spPr>
          <a:xfrm>
            <a:off x="3509775" y="6423050"/>
            <a:ext cx="2912700" cy="1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2"/>
                </a:solidFill>
              </a:rPr>
              <a:t>Conceptual diagram(BPMN)</a:t>
            </a:r>
            <a:endParaRPr sz="1500">
              <a:solidFill>
                <a:schemeClr val="dk2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788" y="897425"/>
            <a:ext cx="8696426" cy="545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539749" y="496305"/>
            <a:ext cx="8215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Project Goal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533400" y="1552725"/>
            <a:ext cx="5601600" cy="4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155701" lvl="0" marL="360001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Pro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ject goal: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Implement an ML-based anomaly detection system to predict machine failures leveraging MLOPS and support predictive maintenance.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3d white people with business goal text and target. (Provided by Getty Images)"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39025" y="1859100"/>
            <a:ext cx="2552576" cy="2086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539749" y="496305"/>
            <a:ext cx="8215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Requirements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533400" y="1552725"/>
            <a:ext cx="7261500" cy="49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b="1" sz="2500">
              <a:latin typeface="Arial"/>
              <a:ea typeface="Arial"/>
              <a:cs typeface="Arial"/>
              <a:sym typeface="Arial"/>
            </a:endParaRPr>
          </a:p>
          <a:p>
            <a:pPr indent="-155701" lvl="0" marL="360001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Functional Requirements: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168B5"/>
              </a:buClr>
              <a:buSzPts val="1800"/>
              <a:buFont typeface="Noto Sans Symbols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Production d</a:t>
            </a:r>
            <a:r>
              <a:rPr lang="en-US" sz="1900">
                <a:latin typeface="Arial"/>
                <a:ea typeface="Arial"/>
                <a:cs typeface="Arial"/>
                <a:sym typeface="Arial"/>
              </a:rPr>
              <a:t>ata acquisition.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Detection of potential machine breakdowns.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Provision of actionable maintenance alerts.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-US">
                <a:latin typeface="Arial"/>
                <a:ea typeface="Arial"/>
                <a:cs typeface="Arial"/>
                <a:sym typeface="Arial"/>
              </a:rPr>
              <a:t>Non Functional Requirements:</a:t>
            </a:r>
            <a:br>
              <a:rPr b="1" lang="en-US">
                <a:latin typeface="Arial"/>
                <a:ea typeface="Arial"/>
                <a:cs typeface="Arial"/>
                <a:sym typeface="Arial"/>
              </a:rPr>
            </a:br>
            <a:endParaRPr b="1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Explainability of prediction results.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Transparency and traceability of MLOps lifecycle.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❖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Reproducibility and Continous monitoring of data drift.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246324" y="566430"/>
            <a:ext cx="8215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Business Architecture for Predictive Maintenance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246325" y="1453900"/>
            <a:ext cx="4782900" cy="51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Proposed solution: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r>
              <a:rPr lang="en-US" sz="2300">
                <a:latin typeface="Arial"/>
                <a:ea typeface="Arial"/>
                <a:cs typeface="Arial"/>
                <a:sym typeface="Arial"/>
              </a:rPr>
              <a:t>1. End-to-end MLOps-based predictive maintenance pipeline from raw production data to maintenance alerts.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2. Using a layered architecture with data ingestion, feature engineering, model training, evaluation, inference, monitoring and 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dashboarding</a:t>
            </a:r>
            <a:r>
              <a:rPr lang="en-US" sz="2300">
                <a:latin typeface="Arial"/>
                <a:ea typeface="Arial"/>
                <a:cs typeface="Arial"/>
                <a:sym typeface="Arial"/>
              </a:rPr>
              <a:t>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System Input: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65217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Job-level schedule data including priority, family type, stage machine IDs, processing times, waiting time, tardiness, and BREAKS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System Output:  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65217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Breakdown risk score for jobs or machine-stage combinations.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65217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Explainable alert with likely wear-driving factors.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-288131" lvl="0" marL="457200" rtl="0" algn="l">
              <a:spcBef>
                <a:spcPts val="0"/>
              </a:spcBef>
              <a:spcAft>
                <a:spcPts val="0"/>
              </a:spcAft>
              <a:buSzPct val="65217"/>
              <a:buChar char="❖"/>
            </a:pPr>
            <a:r>
              <a:rPr lang="en-US" sz="2300">
                <a:latin typeface="Arial"/>
                <a:ea typeface="Arial"/>
                <a:cs typeface="Arial"/>
                <a:sym typeface="Arial"/>
              </a:rPr>
              <a:t>Decision support for maintenance planning</a:t>
            </a:r>
            <a:br>
              <a:rPr lang="en-US" sz="2300">
                <a:latin typeface="Arial"/>
                <a:ea typeface="Arial"/>
                <a:cs typeface="Arial"/>
                <a:sym typeface="Arial"/>
              </a:rPr>
            </a:br>
            <a:endParaRPr sz="23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5750" y="1714800"/>
            <a:ext cx="3809975" cy="39953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539749" y="378955"/>
            <a:ext cx="8215200" cy="5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Technical Plan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539750" y="1070425"/>
            <a:ext cx="4653000" cy="527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36550" lvl="0" marL="457200" rtl="0" algn="l">
              <a:spcBef>
                <a:spcPts val="1800"/>
              </a:spcBef>
              <a:spcAft>
                <a:spcPts val="0"/>
              </a:spcAft>
              <a:buSzPts val="1700"/>
              <a:buFont typeface="Arial"/>
              <a:buChar char="❖"/>
            </a:pPr>
            <a:r>
              <a:rPr i="1" lang="en-US" sz="1700" u="sng">
                <a:latin typeface="Arial"/>
                <a:ea typeface="Arial"/>
                <a:cs typeface="Arial"/>
                <a:sym typeface="Arial"/>
              </a:rPr>
              <a:t>Data integration layer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– connect relevant production and machine data sources to the analytics workflow.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❖"/>
            </a:pPr>
            <a:r>
              <a:rPr i="1" lang="en-US" sz="1700" u="sng">
                <a:latin typeface="Arial"/>
                <a:ea typeface="Arial"/>
                <a:cs typeface="Arial"/>
                <a:sym typeface="Arial"/>
              </a:rPr>
              <a:t>Data preparation pipeline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– establish a reusable pipeline for validation, transformation, and provision of analysis-ready data.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❖"/>
            </a:pPr>
            <a:r>
              <a:rPr i="1" lang="en-US" sz="1700" u="sng">
                <a:latin typeface="Arial"/>
                <a:ea typeface="Arial"/>
                <a:cs typeface="Arial"/>
                <a:sym typeface="Arial"/>
              </a:rPr>
              <a:t>Model development environment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– develop and evaluate the anomaly detection model in an experimental setup.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❖"/>
            </a:pPr>
            <a:r>
              <a:rPr i="1" lang="en-US" sz="1700" u="sng">
                <a:latin typeface="Arial"/>
                <a:ea typeface="Arial"/>
                <a:cs typeface="Arial"/>
                <a:sym typeface="Arial"/>
              </a:rPr>
              <a:t>Deployment architecture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–prepare a serving component that delivers predictions to business users.</a:t>
            </a:r>
            <a:br>
              <a:rPr lang="en-US" sz="1700">
                <a:latin typeface="Arial"/>
                <a:ea typeface="Arial"/>
                <a:cs typeface="Arial"/>
                <a:sym typeface="Arial"/>
              </a:rPr>
            </a:b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Arial"/>
              <a:buChar char="❖"/>
            </a:pPr>
            <a:r>
              <a:rPr i="1" lang="en-US" sz="1700" u="sng">
                <a:latin typeface="Arial"/>
                <a:ea typeface="Arial"/>
                <a:cs typeface="Arial"/>
                <a:sym typeface="Arial"/>
              </a:rPr>
              <a:t>Monitoring and maintenance</a:t>
            </a:r>
            <a:r>
              <a:rPr lang="en-US" sz="1700">
                <a:latin typeface="Arial"/>
                <a:ea typeface="Arial"/>
                <a:cs typeface="Arial"/>
                <a:sym typeface="Arial"/>
              </a:rPr>
              <a:t> – monitor model and system performance and enable continuous improvement over time.</a:t>
            </a:r>
            <a:endParaRPr sz="17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1300" y="1412250"/>
            <a:ext cx="3731425" cy="389762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/>
          <p:nvPr/>
        </p:nvSpPr>
        <p:spPr>
          <a:xfrm>
            <a:off x="6096463" y="5382275"/>
            <a:ext cx="20811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2"/>
                </a:solidFill>
              </a:rPr>
              <a:t>Workflow Diagram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533399" y="909455"/>
            <a:ext cx="8215200" cy="5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Success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Metrics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533400" y="1552725"/>
            <a:ext cx="8215200" cy="433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300" u="sng"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SzPts val="2200"/>
              <a:buChar char="❖"/>
            </a:pPr>
            <a:r>
              <a:rPr lang="en-US"/>
              <a:t>Provide early warnings and maintain consistent performance for effective maintenance decisions.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b="1" lang="en-US"/>
              <a:t>High recall </a:t>
            </a:r>
            <a:r>
              <a:rPr lang="en-US"/>
              <a:t>to correctly detect breakdowns.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-US"/>
              <a:t>Ensure </a:t>
            </a:r>
            <a:r>
              <a:rPr b="1" lang="en-US"/>
              <a:t>high precision </a:t>
            </a:r>
            <a:r>
              <a:rPr lang="en-US"/>
              <a:t>to reduce false alarms and avoid unnecessary maintenance actions.</a:t>
            </a:r>
            <a:endParaRPr/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-US"/>
              <a:t>F1-score to balance false alarms, supporting overall reliable and cost-effective maintenance planning</a:t>
            </a:r>
            <a:endParaRPr sz="23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533399" y="909455"/>
            <a:ext cx="8215200" cy="5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Gannt Chart</a:t>
            </a:r>
            <a:endParaRPr/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533399" y="1552724"/>
            <a:ext cx="8215200" cy="497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4" title="Online Gantt 20260422.png"/>
          <p:cNvPicPr preferRelativeResize="0"/>
          <p:nvPr/>
        </p:nvPicPr>
        <p:blipFill rotWithShape="1">
          <a:blip r:embed="rId3">
            <a:alphaModFix/>
          </a:blip>
          <a:srcRect b="5935" l="6050" r="0" t="0"/>
          <a:stretch/>
        </p:blipFill>
        <p:spPr>
          <a:xfrm>
            <a:off x="539750" y="1552725"/>
            <a:ext cx="8114524" cy="457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533399" y="909455"/>
            <a:ext cx="8215200" cy="561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533399" y="1552724"/>
            <a:ext cx="8215200" cy="4972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sz="4600"/>
          </a:p>
          <a:p>
            <a:pPr indent="0" lvl="0" marL="0" rtl="0" algn="ctr"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4600"/>
              <a:t>Thank you</a:t>
            </a:r>
            <a:endParaRPr sz="4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